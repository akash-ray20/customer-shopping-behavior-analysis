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Bricolage Grotesque Extra Bold"/>
      <p:regular r:id="rId17"/>
    </p:embeddedFont>
    <p:embeddedFont>
      <p:font typeface="Montserrat"/>
      <p:regular r:id="rId18"/>
    </p:embeddedFont>
    <p:embeddedFont>
      <p:font typeface="Montserrat"/>
      <p:regular r:id="rId19"/>
    </p:embeddedFont>
    <p:embeddedFont>
      <p:font typeface="Montserrat"/>
      <p:regular r:id="rId20"/>
    </p:embeddedFont>
    <p:embeddedFont>
      <p:font typeface="Montserrat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8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9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Transforming 3,900 transactions into strategic intelligence through data-driven insights on spending patterns, customer segmentation, and subscription dynamics.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086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22233" y="3148727"/>
            <a:ext cx="1997035" cy="388025"/>
          </a:xfrm>
          <a:prstGeom prst="roundRect">
            <a:avLst>
              <a:gd name="adj" fmla="val 17871"/>
            </a:avLst>
          </a:prstGeom>
          <a:solidFill>
            <a:srgbClr val="3E0845"/>
          </a:solidFill>
          <a:ln/>
        </p:spPr>
      </p:sp>
      <p:sp>
        <p:nvSpPr>
          <p:cNvPr id="4" name="Text 1"/>
          <p:cNvSpPr/>
          <p:nvPr/>
        </p:nvSpPr>
        <p:spPr>
          <a:xfrm>
            <a:off x="846058" y="3210639"/>
            <a:ext cx="1749385" cy="26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2233" y="3619262"/>
            <a:ext cx="8840986" cy="644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From Data to Strategic Intelligence</a:t>
            </a:r>
            <a:endParaRPr lang="en-US" sz="4050" dirty="0"/>
          </a:p>
        </p:txBody>
      </p:sp>
      <p:sp>
        <p:nvSpPr>
          <p:cNvPr id="6" name="Text 3"/>
          <p:cNvSpPr/>
          <p:nvPr/>
        </p:nvSpPr>
        <p:spPr>
          <a:xfrm>
            <a:off x="722233" y="4780002"/>
            <a:ext cx="2579727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Our Mission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22233" y="5308759"/>
            <a:ext cx="6341269" cy="990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Construct a comprehensive analytical framework that transforms raw transactional data into actionable business strategy.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22233" y="6484620"/>
            <a:ext cx="6341269" cy="990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bridge the gap between operational data and strategic insight through disciplined engineering, rigorous analysis, and visualization-driven storytelling.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74518" y="4780002"/>
            <a:ext cx="2579727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Key Objectives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574518" y="5308759"/>
            <a:ext cx="634126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optimization opportunities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574518" y="5710952"/>
            <a:ext cx="634126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retention strategies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574518" y="6113145"/>
            <a:ext cx="634126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Targeted marketing interventions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574518" y="6515338"/>
            <a:ext cx="634126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portfolio positioning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99530"/>
            <a:ext cx="1395889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EEAEF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7498" y="1129546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9675" y="1075134"/>
            <a:ext cx="83629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531739"/>
            <a:ext cx="58869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Dataset Composition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2694027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3,900</a:t>
            </a:r>
            <a:endParaRPr lang="en-US" sz="5850" dirty="0"/>
          </a:p>
        </p:txBody>
      </p:sp>
      <p:sp>
        <p:nvSpPr>
          <p:cNvPr id="7" name="Text 4"/>
          <p:cNvSpPr/>
          <p:nvPr/>
        </p:nvSpPr>
        <p:spPr>
          <a:xfrm>
            <a:off x="1455420" y="37258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Transactions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3790" y="4216241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Comprehensive sample size across diverse product categories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5235893" y="2694027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18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5897523" y="37258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Variables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235893" y="4216241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Rich feature set spanning demographics, transactions, and behavior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9677995" y="2694027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37</a:t>
            </a:r>
            <a:endParaRPr lang="en-US" sz="5850" dirty="0"/>
          </a:p>
        </p:txBody>
      </p:sp>
      <p:sp>
        <p:nvSpPr>
          <p:cNvPr id="13" name="Text 10"/>
          <p:cNvSpPr/>
          <p:nvPr/>
        </p:nvSpPr>
        <p:spPr>
          <a:xfrm>
            <a:off x="10339626" y="37258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677995" y="4216241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Handled through systematic imputation strategy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793790" y="5560100"/>
            <a:ext cx="4196358" cy="1669852"/>
          </a:xfrm>
          <a:prstGeom prst="roundRect">
            <a:avLst>
              <a:gd name="adj" fmla="val 5705"/>
            </a:avLst>
          </a:prstGeom>
          <a:solidFill>
            <a:srgbClr val="282D5E"/>
          </a:solidFill>
          <a:ln/>
        </p:spPr>
      </p:sp>
      <p:sp>
        <p:nvSpPr>
          <p:cNvPr id="16" name="Text 13"/>
          <p:cNvSpPr/>
          <p:nvPr/>
        </p:nvSpPr>
        <p:spPr>
          <a:xfrm>
            <a:off x="1020604" y="57869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Demographics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020604" y="6277332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Age, Gender, Location, Subscription Status</a:t>
            </a:r>
            <a:endParaRPr lang="en-US" sz="1750" dirty="0"/>
          </a:p>
        </p:txBody>
      </p:sp>
      <p:sp>
        <p:nvSpPr>
          <p:cNvPr id="18" name="Shape 15"/>
          <p:cNvSpPr/>
          <p:nvPr/>
        </p:nvSpPr>
        <p:spPr>
          <a:xfrm>
            <a:off x="5216962" y="5560100"/>
            <a:ext cx="4196358" cy="1669852"/>
          </a:xfrm>
          <a:prstGeom prst="roundRect">
            <a:avLst>
              <a:gd name="adj" fmla="val 5705"/>
            </a:avLst>
          </a:prstGeom>
          <a:solidFill>
            <a:srgbClr val="282D5E"/>
          </a:solidFill>
          <a:ln/>
        </p:spPr>
      </p:sp>
      <p:sp>
        <p:nvSpPr>
          <p:cNvPr id="19" name="Text 16"/>
          <p:cNvSpPr/>
          <p:nvPr/>
        </p:nvSpPr>
        <p:spPr>
          <a:xfrm>
            <a:off x="5443776" y="57869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Transactions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443776" y="6277332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Item, Category, Amount, Season, Size, Color</a:t>
            </a:r>
            <a:endParaRPr lang="en-US" sz="1750" dirty="0"/>
          </a:p>
        </p:txBody>
      </p:sp>
      <p:sp>
        <p:nvSpPr>
          <p:cNvPr id="21" name="Shape 18"/>
          <p:cNvSpPr/>
          <p:nvPr/>
        </p:nvSpPr>
        <p:spPr>
          <a:xfrm>
            <a:off x="9640133" y="5560100"/>
            <a:ext cx="4196358" cy="1669852"/>
          </a:xfrm>
          <a:prstGeom prst="roundRect">
            <a:avLst>
              <a:gd name="adj" fmla="val 5705"/>
            </a:avLst>
          </a:prstGeom>
          <a:solidFill>
            <a:srgbClr val="282D5E"/>
          </a:solidFill>
          <a:ln/>
        </p:spPr>
      </p:sp>
      <p:sp>
        <p:nvSpPr>
          <p:cNvPr id="22" name="Text 19"/>
          <p:cNvSpPr/>
          <p:nvPr/>
        </p:nvSpPr>
        <p:spPr>
          <a:xfrm>
            <a:off x="9866948" y="57869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Behavior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9866948" y="6277332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Discounts, Frequency, Reviews, Shipping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30912"/>
            <a:ext cx="1338143" cy="426244"/>
          </a:xfrm>
          <a:prstGeom prst="roundRect">
            <a:avLst>
              <a:gd name="adj" fmla="val 17880"/>
            </a:avLst>
          </a:prstGeom>
          <a:solidFill>
            <a:srgbClr val="3E08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878" y="753308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698897"/>
            <a:ext cx="79379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147882"/>
            <a:ext cx="88369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Data Engineering &amp; Preparation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219682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Rigorous data preparation established the foundation for reliable analysis through systematic quality assurance and feature optimization.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317777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3532823"/>
            <a:ext cx="4196358" cy="3048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9" name="Text 6"/>
          <p:cNvSpPr/>
          <p:nvPr/>
        </p:nvSpPr>
        <p:spPr>
          <a:xfrm>
            <a:off x="793790" y="37071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Data Assessment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93790" y="4197548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Imported dataset and conducted structural analysis to identify data types and formatting consistency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5216962" y="317777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5216962" y="3532823"/>
            <a:ext cx="4196358" cy="3048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13" name="Text 10"/>
          <p:cNvSpPr/>
          <p:nvPr/>
        </p:nvSpPr>
        <p:spPr>
          <a:xfrm>
            <a:off x="5216962" y="3707130"/>
            <a:ext cx="29266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Quality Management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216962" y="4197548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Applied category-specific median imputation for 37 missing review ratings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9640133" y="317777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9640133" y="3532823"/>
            <a:ext cx="4196358" cy="3048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17" name="Text 14"/>
          <p:cNvSpPr/>
          <p:nvPr/>
        </p:nvSpPr>
        <p:spPr>
          <a:xfrm>
            <a:off x="9640133" y="3707130"/>
            <a:ext cx="28416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640133" y="4197548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Created age_group cohorts and purchase_frequency_days for behavioral insights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793790" y="568309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20" name="Shape 17"/>
          <p:cNvSpPr/>
          <p:nvPr/>
        </p:nvSpPr>
        <p:spPr>
          <a:xfrm>
            <a:off x="793790" y="6038136"/>
            <a:ext cx="6407944" cy="3048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21" name="Text 18"/>
          <p:cNvSpPr/>
          <p:nvPr/>
        </p:nvSpPr>
        <p:spPr>
          <a:xfrm>
            <a:off x="793790" y="6212443"/>
            <a:ext cx="30377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Redundancy Analysis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93790" y="670286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Removed promo_code_used feature after identifying correlation with discount_applied</a:t>
            </a:r>
            <a:endParaRPr lang="en-US" sz="1750" dirty="0"/>
          </a:p>
        </p:txBody>
      </p:sp>
      <p:sp>
        <p:nvSpPr>
          <p:cNvPr id="23" name="Text 20"/>
          <p:cNvSpPr/>
          <p:nvPr/>
        </p:nvSpPr>
        <p:spPr>
          <a:xfrm>
            <a:off x="7428548" y="568309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4" name="Shape 21"/>
          <p:cNvSpPr/>
          <p:nvPr/>
        </p:nvSpPr>
        <p:spPr>
          <a:xfrm>
            <a:off x="7428548" y="6038136"/>
            <a:ext cx="6407944" cy="3048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25" name="Text 22"/>
          <p:cNvSpPr/>
          <p:nvPr/>
        </p:nvSpPr>
        <p:spPr>
          <a:xfrm>
            <a:off x="7428548" y="6212443"/>
            <a:ext cx="29550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7428548" y="670286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Loaded cleaned DataFrame into PostgreSQL for structured SQL analysis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48653"/>
            <a:ext cx="1991201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EEAEF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7498" y="778669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9675" y="724257"/>
            <a:ext cx="143160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ANALYTICS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180862"/>
            <a:ext cx="82461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Business Intelligence Queries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793790" y="2569964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090E3F"/>
          </a:solidFill>
          <a:ln/>
        </p:spPr>
      </p:sp>
      <p:sp>
        <p:nvSpPr>
          <p:cNvPr id="7" name="Shape 4"/>
          <p:cNvSpPr/>
          <p:nvPr/>
        </p:nvSpPr>
        <p:spPr>
          <a:xfrm>
            <a:off x="793790" y="2539484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EEAEF6"/>
          </a:solidFill>
          <a:ln/>
        </p:spPr>
      </p:sp>
      <p:sp>
        <p:nvSpPr>
          <p:cNvPr id="8" name="Shape 5"/>
          <p:cNvSpPr/>
          <p:nvPr/>
        </p:nvSpPr>
        <p:spPr>
          <a:xfrm>
            <a:off x="2551688" y="222980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EAEF6"/>
          </a:solidFill>
          <a:ln/>
        </p:spPr>
      </p:sp>
      <p:sp>
        <p:nvSpPr>
          <p:cNvPr id="9" name="Text 6"/>
          <p:cNvSpPr/>
          <p:nvPr/>
        </p:nvSpPr>
        <p:spPr>
          <a:xfrm>
            <a:off x="2755761" y="239994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051084" y="31369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Revenue by Gender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51084" y="3627358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Quantified differential revenue contribution patterns across customer segments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5216962" y="2569964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090E3F"/>
          </a:solidFill>
          <a:ln/>
        </p:spPr>
      </p:sp>
      <p:sp>
        <p:nvSpPr>
          <p:cNvPr id="13" name="Shape 10"/>
          <p:cNvSpPr/>
          <p:nvPr/>
        </p:nvSpPr>
        <p:spPr>
          <a:xfrm>
            <a:off x="5216962" y="2539484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EEAEF6"/>
          </a:solidFill>
          <a:ln/>
        </p:spPr>
      </p:sp>
      <p:sp>
        <p:nvSpPr>
          <p:cNvPr id="14" name="Shape 11"/>
          <p:cNvSpPr/>
          <p:nvPr/>
        </p:nvSpPr>
        <p:spPr>
          <a:xfrm>
            <a:off x="6974860" y="222980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EAEF6"/>
          </a:solidFill>
          <a:ln/>
        </p:spPr>
      </p:sp>
      <p:sp>
        <p:nvSpPr>
          <p:cNvPr id="15" name="Text 12"/>
          <p:cNvSpPr/>
          <p:nvPr/>
        </p:nvSpPr>
        <p:spPr>
          <a:xfrm>
            <a:off x="7178933" y="239994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2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5474256" y="3136940"/>
            <a:ext cx="29765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High-Value Discounts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474256" y="3627358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Identified price-sensitive customers with demonstrated spending capacity</a:t>
            </a:r>
            <a:endParaRPr lang="en-US" sz="1750" dirty="0"/>
          </a:p>
        </p:txBody>
      </p:sp>
      <p:sp>
        <p:nvSpPr>
          <p:cNvPr id="18" name="Shape 15"/>
          <p:cNvSpPr/>
          <p:nvPr/>
        </p:nvSpPr>
        <p:spPr>
          <a:xfrm>
            <a:off x="9640133" y="2569964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090E3F"/>
          </a:solidFill>
          <a:ln/>
        </p:spPr>
      </p:sp>
      <p:sp>
        <p:nvSpPr>
          <p:cNvPr id="19" name="Shape 16"/>
          <p:cNvSpPr/>
          <p:nvPr/>
        </p:nvSpPr>
        <p:spPr>
          <a:xfrm>
            <a:off x="9640133" y="2539484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EEAEF6"/>
          </a:solidFill>
          <a:ln/>
        </p:spPr>
      </p:sp>
      <p:sp>
        <p:nvSpPr>
          <p:cNvPr id="20" name="Shape 17"/>
          <p:cNvSpPr/>
          <p:nvPr/>
        </p:nvSpPr>
        <p:spPr>
          <a:xfrm>
            <a:off x="11398032" y="222980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EAEF6"/>
          </a:solidFill>
          <a:ln/>
        </p:spPr>
      </p:sp>
      <p:sp>
        <p:nvSpPr>
          <p:cNvPr id="21" name="Text 18"/>
          <p:cNvSpPr/>
          <p:nvPr/>
        </p:nvSpPr>
        <p:spPr>
          <a:xfrm>
            <a:off x="11602105" y="239994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3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9897427" y="31369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Product Quality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9897427" y="3627358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Established top five products by average review rating for competitive positioning</a:t>
            </a:r>
            <a:endParaRPr lang="en-US" sz="1750" dirty="0"/>
          </a:p>
        </p:txBody>
      </p:sp>
      <p:sp>
        <p:nvSpPr>
          <p:cNvPr id="24" name="Shape 21"/>
          <p:cNvSpPr/>
          <p:nvPr/>
        </p:nvSpPr>
        <p:spPr>
          <a:xfrm>
            <a:off x="793790" y="5540335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090E3F"/>
          </a:solidFill>
          <a:ln/>
        </p:spPr>
      </p:sp>
      <p:sp>
        <p:nvSpPr>
          <p:cNvPr id="25" name="Shape 22"/>
          <p:cNvSpPr/>
          <p:nvPr/>
        </p:nvSpPr>
        <p:spPr>
          <a:xfrm>
            <a:off x="793790" y="5509855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EEAEF6"/>
          </a:solidFill>
          <a:ln/>
        </p:spPr>
      </p:sp>
      <p:sp>
        <p:nvSpPr>
          <p:cNvPr id="26" name="Shape 23"/>
          <p:cNvSpPr/>
          <p:nvPr/>
        </p:nvSpPr>
        <p:spPr>
          <a:xfrm>
            <a:off x="3657540" y="520017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EAEF6"/>
          </a:solidFill>
          <a:ln/>
        </p:spPr>
      </p:sp>
      <p:sp>
        <p:nvSpPr>
          <p:cNvPr id="27" name="Text 24"/>
          <p:cNvSpPr/>
          <p:nvPr/>
        </p:nvSpPr>
        <p:spPr>
          <a:xfrm>
            <a:off x="3861614" y="5370314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4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1051084" y="6107311"/>
            <a:ext cx="28552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Shipping Economics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1051084" y="6597729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Evaluated willingness-to-pay between standard and express delivery options</a:t>
            </a:r>
            <a:endParaRPr lang="en-US" sz="1750" dirty="0"/>
          </a:p>
        </p:txBody>
      </p:sp>
      <p:sp>
        <p:nvSpPr>
          <p:cNvPr id="30" name="Shape 27"/>
          <p:cNvSpPr/>
          <p:nvPr/>
        </p:nvSpPr>
        <p:spPr>
          <a:xfrm>
            <a:off x="7428548" y="5540335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090E3F"/>
          </a:solidFill>
          <a:ln/>
        </p:spPr>
      </p:sp>
      <p:sp>
        <p:nvSpPr>
          <p:cNvPr id="31" name="Shape 28"/>
          <p:cNvSpPr/>
          <p:nvPr/>
        </p:nvSpPr>
        <p:spPr>
          <a:xfrm>
            <a:off x="7428548" y="5509855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EEAEF6"/>
          </a:solidFill>
          <a:ln/>
        </p:spPr>
      </p:sp>
      <p:sp>
        <p:nvSpPr>
          <p:cNvPr id="32" name="Shape 29"/>
          <p:cNvSpPr/>
          <p:nvPr/>
        </p:nvSpPr>
        <p:spPr>
          <a:xfrm>
            <a:off x="10292298" y="520017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EAEF6"/>
          </a:solidFill>
          <a:ln/>
        </p:spPr>
      </p:sp>
      <p:sp>
        <p:nvSpPr>
          <p:cNvPr id="33" name="Text 30"/>
          <p:cNvSpPr/>
          <p:nvPr/>
        </p:nvSpPr>
        <p:spPr>
          <a:xfrm>
            <a:off x="10496371" y="5370314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5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7685842" y="6107311"/>
            <a:ext cx="30746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Subscription Analysis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685842" y="6597729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Calculated revenue differential between subscribers and non-subscribers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6271" y="507802"/>
            <a:ext cx="6589990" cy="577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Advanced Customer Insights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6271" y="1546503"/>
            <a:ext cx="2506147" cy="28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Discount Dependency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6271" y="2019657"/>
            <a:ext cx="4099560" cy="886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Identified five products with highest percentage of discounted transactions, flagging margin-aware promotional needs.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203984" y="1546503"/>
            <a:ext cx="2683193" cy="28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Lifecycle Segmentation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203984" y="2019657"/>
            <a:ext cx="4099560" cy="590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Classified customers into New, Returning, and Loyal cohorts for targeted interventions.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761696" y="1546503"/>
            <a:ext cx="2602587" cy="28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Category Performance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761696" y="2019657"/>
            <a:ext cx="4237434" cy="590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Ranked top three products within each category by transaction frequency.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303383" y="4970978"/>
            <a:ext cx="2308384" cy="28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Repeat Purchase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6271" y="5370195"/>
            <a:ext cx="3965496" cy="886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Analyzed correlation between high frequency (&gt;5 transactions) and subscription likelihood</a:t>
            </a:r>
            <a:endParaRPr lang="en-US" sz="14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1099" y="3279577"/>
            <a:ext cx="4668203" cy="4668203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133" y="5475506"/>
            <a:ext cx="276225" cy="2762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926241" y="3808452"/>
            <a:ext cx="2308384" cy="28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Age Cohorts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9926241" y="4207669"/>
            <a:ext cx="4057888" cy="590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Calculated revenue attribution across age groups to identify high-value demographics</a:t>
            </a:r>
            <a:endParaRPr lang="en-US" sz="14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1099" y="3279577"/>
            <a:ext cx="4668203" cy="4668203"/>
          </a:xfrm>
          <a:prstGeom prst="rect">
            <a:avLst/>
          </a:prstGeom>
        </p:spPr>
      </p:pic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93916" y="4060448"/>
            <a:ext cx="276225" cy="2762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926241" y="6133386"/>
            <a:ext cx="2308384" cy="28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Quality Signals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9926241" y="6532602"/>
            <a:ext cx="4057888" cy="886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Established benchmarks for products driving conversion and reducing price sensitivity</a:t>
            </a:r>
            <a:endParaRPr lang="en-US" sz="14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1099" y="3279577"/>
            <a:ext cx="4668203" cy="4668203"/>
          </a:xfrm>
          <a:prstGeom prst="rect">
            <a:avLst/>
          </a:prstGeom>
        </p:spPr>
      </p:pic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93916" y="6890445"/>
            <a:ext cx="276225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306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0334" y="605195"/>
            <a:ext cx="1908810" cy="413623"/>
          </a:xfrm>
          <a:prstGeom prst="roundRect">
            <a:avLst>
              <a:gd name="adj" fmla="val 17880"/>
            </a:avLst>
          </a:prstGeom>
          <a:solidFill>
            <a:srgbClr val="3E0845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375" y="724019"/>
            <a:ext cx="175974" cy="17597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6336" y="671155"/>
            <a:ext cx="1380768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VISUALIZATION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70334" y="1106805"/>
            <a:ext cx="7603331" cy="137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Interactive Power BI Dashboard</a:t>
            </a:r>
            <a:endParaRPr lang="en-US" sz="4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0334" y="2812494"/>
            <a:ext cx="550188" cy="5501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95557" y="2943106"/>
            <a:ext cx="2751177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Real-Time KPIs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1595557" y="3418999"/>
            <a:ext cx="6778109" cy="704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 key performance indicators with live data updates and instant insights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0334" y="4563547"/>
            <a:ext cx="550188" cy="5501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95557" y="4694158"/>
            <a:ext cx="3584258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Multidimensional Filtering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1595557" y="5170051"/>
            <a:ext cx="6778109" cy="704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Explore data through drill-down capabilities across customer, product, and temporal dimensions</a:t>
            </a:r>
            <a:endParaRPr lang="en-US" sz="17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0334" y="6314599"/>
            <a:ext cx="550188" cy="5501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595557" y="6445210"/>
            <a:ext cx="2751177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Pattern Recognition</a:t>
            </a:r>
            <a:endParaRPr lang="en-US" sz="2150" dirty="0"/>
          </a:p>
        </p:txBody>
      </p:sp>
      <p:sp>
        <p:nvSpPr>
          <p:cNvPr id="15" name="Text 8"/>
          <p:cNvSpPr/>
          <p:nvPr/>
        </p:nvSpPr>
        <p:spPr>
          <a:xfrm>
            <a:off x="1595557" y="6921103"/>
            <a:ext cx="6778109" cy="704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trends and make informed decisions based on visual evidence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0792" y="487799"/>
            <a:ext cx="2595920" cy="333256"/>
          </a:xfrm>
          <a:prstGeom prst="roundRect">
            <a:avLst>
              <a:gd name="adj" fmla="val 17886"/>
            </a:avLst>
          </a:prstGeom>
          <a:solidFill>
            <a:srgbClr val="3E0845"/>
          </a:solidFill>
          <a:ln/>
        </p:spPr>
      </p:sp>
      <p:sp>
        <p:nvSpPr>
          <p:cNvPr id="3" name="Text 1"/>
          <p:cNvSpPr/>
          <p:nvPr/>
        </p:nvSpPr>
        <p:spPr>
          <a:xfrm>
            <a:off x="727115" y="540901"/>
            <a:ext cx="2383274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0792" y="891897"/>
            <a:ext cx="5485686" cy="55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Five Pathways to Growth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798195" y="1978223"/>
            <a:ext cx="177284" cy="798195"/>
          </a:xfrm>
          <a:prstGeom prst="roundRect">
            <a:avLst>
              <a:gd name="adj" fmla="val 42027"/>
            </a:avLst>
          </a:prstGeom>
          <a:solidFill>
            <a:srgbClr val="282D5E"/>
          </a:solidFill>
          <a:ln/>
        </p:spPr>
      </p:sp>
      <p:sp>
        <p:nvSpPr>
          <p:cNvPr id="6" name="Shape 4"/>
          <p:cNvSpPr/>
          <p:nvPr/>
        </p:nvSpPr>
        <p:spPr>
          <a:xfrm>
            <a:off x="620792" y="1861899"/>
            <a:ext cx="532090" cy="532090"/>
          </a:xfrm>
          <a:prstGeom prst="roundRect">
            <a:avLst>
              <a:gd name="adj" fmla="val 85925"/>
            </a:avLst>
          </a:prstGeom>
          <a:solidFill>
            <a:srgbClr val="282D5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3785" y="1994892"/>
            <a:ext cx="265986" cy="2659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30166" y="1889522"/>
            <a:ext cx="3314819" cy="277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Subscription Growth Initiative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330166" y="2272903"/>
            <a:ext cx="12679442" cy="283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 exclusive benefits packages to migrate price-sensitive customers into higher-lifetime-value subscription models.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064181" y="3219807"/>
            <a:ext cx="177284" cy="798195"/>
          </a:xfrm>
          <a:prstGeom prst="roundRect">
            <a:avLst>
              <a:gd name="adj" fmla="val 42027"/>
            </a:avLst>
          </a:prstGeom>
          <a:solidFill>
            <a:srgbClr val="282D5E"/>
          </a:solidFill>
          <a:ln/>
        </p:spPr>
      </p:sp>
      <p:sp>
        <p:nvSpPr>
          <p:cNvPr id="11" name="Shape 8"/>
          <p:cNvSpPr/>
          <p:nvPr/>
        </p:nvSpPr>
        <p:spPr>
          <a:xfrm>
            <a:off x="886778" y="3103483"/>
            <a:ext cx="532090" cy="532090"/>
          </a:xfrm>
          <a:prstGeom prst="roundRect">
            <a:avLst>
              <a:gd name="adj" fmla="val 85925"/>
            </a:avLst>
          </a:prstGeom>
          <a:solidFill>
            <a:srgbClr val="282D5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9770" y="3236476"/>
            <a:ext cx="265986" cy="2659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96152" y="3131106"/>
            <a:ext cx="3378637" cy="277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Customer Loyalty Architecture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596152" y="3514487"/>
            <a:ext cx="12413456" cy="283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 tiered loyalty programs to elevate returning customers into the "Loyal" segment through recognition and rewards.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1330285" y="4461391"/>
            <a:ext cx="177284" cy="798195"/>
          </a:xfrm>
          <a:prstGeom prst="roundRect">
            <a:avLst>
              <a:gd name="adj" fmla="val 42027"/>
            </a:avLst>
          </a:prstGeom>
          <a:solidFill>
            <a:srgbClr val="282D5E"/>
          </a:solidFill>
          <a:ln/>
        </p:spPr>
      </p:sp>
      <p:sp>
        <p:nvSpPr>
          <p:cNvPr id="16" name="Shape 12"/>
          <p:cNvSpPr/>
          <p:nvPr/>
        </p:nvSpPr>
        <p:spPr>
          <a:xfrm>
            <a:off x="1152882" y="4345067"/>
            <a:ext cx="532090" cy="532090"/>
          </a:xfrm>
          <a:prstGeom prst="roundRect">
            <a:avLst>
              <a:gd name="adj" fmla="val 85925"/>
            </a:avLst>
          </a:prstGeom>
          <a:solidFill>
            <a:srgbClr val="282D5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85875" y="4478060"/>
            <a:ext cx="265986" cy="26598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62257" y="4372689"/>
            <a:ext cx="2514481" cy="277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Promotional Efficiency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862257" y="4756071"/>
            <a:ext cx="12147352" cy="283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Optimize discount policies to balance margin-growth tradeoff through strategic repricing and value-bundling.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1596390" y="5702975"/>
            <a:ext cx="177284" cy="798195"/>
          </a:xfrm>
          <a:prstGeom prst="roundRect">
            <a:avLst>
              <a:gd name="adj" fmla="val 42027"/>
            </a:avLst>
          </a:prstGeom>
          <a:solidFill>
            <a:srgbClr val="282D5E"/>
          </a:solidFill>
          <a:ln/>
        </p:spPr>
      </p:sp>
      <p:sp>
        <p:nvSpPr>
          <p:cNvPr id="21" name="Shape 16"/>
          <p:cNvSpPr/>
          <p:nvPr/>
        </p:nvSpPr>
        <p:spPr>
          <a:xfrm>
            <a:off x="1418987" y="5586651"/>
            <a:ext cx="532090" cy="532090"/>
          </a:xfrm>
          <a:prstGeom prst="roundRect">
            <a:avLst>
              <a:gd name="adj" fmla="val 85925"/>
            </a:avLst>
          </a:prstGeom>
          <a:solidFill>
            <a:srgbClr val="282D5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51980" y="5719643"/>
            <a:ext cx="265986" cy="26598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128361" y="5614273"/>
            <a:ext cx="2250043" cy="277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Portfolio Positioning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2128361" y="5997654"/>
            <a:ext cx="11881247" cy="283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Amplify marketing on high-rated, high-velocity products to drive conversion and reduce price sensitivity.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1330285" y="6944558"/>
            <a:ext cx="177284" cy="798195"/>
          </a:xfrm>
          <a:prstGeom prst="roundRect">
            <a:avLst>
              <a:gd name="adj" fmla="val 42027"/>
            </a:avLst>
          </a:prstGeom>
          <a:solidFill>
            <a:srgbClr val="282D5E"/>
          </a:solidFill>
          <a:ln/>
        </p:spPr>
      </p:sp>
      <p:sp>
        <p:nvSpPr>
          <p:cNvPr id="26" name="Shape 20"/>
          <p:cNvSpPr/>
          <p:nvPr/>
        </p:nvSpPr>
        <p:spPr>
          <a:xfrm>
            <a:off x="1152882" y="6828234"/>
            <a:ext cx="532090" cy="532090"/>
          </a:xfrm>
          <a:prstGeom prst="roundRect">
            <a:avLst>
              <a:gd name="adj" fmla="val 85925"/>
            </a:avLst>
          </a:prstGeom>
          <a:solidFill>
            <a:srgbClr val="282D5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85875" y="6961227"/>
            <a:ext cx="265986" cy="26598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862257" y="6855857"/>
            <a:ext cx="2562582" cy="277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Demographic Targeting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1862257" y="7239238"/>
            <a:ext cx="12147352" cy="283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Concentrate marketing investment on high-revenue age cohorts and express-shipping segments for improved ROI.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8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0321" y="518755"/>
            <a:ext cx="5675828" cy="589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Key Findings at a Glance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0321" y="1391245"/>
            <a:ext cx="3817382" cy="2445425"/>
          </a:xfrm>
          <a:prstGeom prst="roundRect">
            <a:avLst>
              <a:gd name="adj" fmla="val 3240"/>
            </a:avLst>
          </a:prstGeom>
          <a:solidFill>
            <a:srgbClr val="282D5E"/>
          </a:solidFill>
          <a:ln/>
        </p:spPr>
      </p:sp>
      <p:sp>
        <p:nvSpPr>
          <p:cNvPr id="5" name="Shape 2"/>
          <p:cNvSpPr/>
          <p:nvPr/>
        </p:nvSpPr>
        <p:spPr>
          <a:xfrm>
            <a:off x="848916" y="1579840"/>
            <a:ext cx="565904" cy="565904"/>
          </a:xfrm>
          <a:prstGeom prst="roundRect">
            <a:avLst>
              <a:gd name="adj" fmla="val 16156602"/>
            </a:avLst>
          </a:prstGeom>
          <a:solidFill>
            <a:srgbClr val="EEAEF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530" y="1735336"/>
            <a:ext cx="254675" cy="2546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8916" y="2334339"/>
            <a:ext cx="262901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Subscription Premium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848916" y="2742248"/>
            <a:ext cx="3440192" cy="905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Subscribers demonstrate higher average spend, indicating strong lifetime value potential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666298" y="1391245"/>
            <a:ext cx="3817382" cy="2445425"/>
          </a:xfrm>
          <a:prstGeom prst="roundRect">
            <a:avLst>
              <a:gd name="adj" fmla="val 3240"/>
            </a:avLst>
          </a:prstGeom>
          <a:solidFill>
            <a:srgbClr val="282D5E"/>
          </a:solidFill>
          <a:ln/>
        </p:spPr>
      </p:sp>
      <p:sp>
        <p:nvSpPr>
          <p:cNvPr id="10" name="Shape 6"/>
          <p:cNvSpPr/>
          <p:nvPr/>
        </p:nvSpPr>
        <p:spPr>
          <a:xfrm>
            <a:off x="4854893" y="1579840"/>
            <a:ext cx="565904" cy="565904"/>
          </a:xfrm>
          <a:prstGeom prst="roundRect">
            <a:avLst>
              <a:gd name="adj" fmla="val 16156602"/>
            </a:avLst>
          </a:prstGeom>
          <a:solidFill>
            <a:srgbClr val="EEAEF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10507" y="1735336"/>
            <a:ext cx="254675" cy="2546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54893" y="2334339"/>
            <a:ext cx="2736533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Express Shipping Value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4854893" y="2742248"/>
            <a:ext cx="3440192" cy="905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Customers choosing express delivery show elevated transaction values and willingness-to-pay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60321" y="4025265"/>
            <a:ext cx="7823359" cy="2143482"/>
          </a:xfrm>
          <a:prstGeom prst="roundRect">
            <a:avLst>
              <a:gd name="adj" fmla="val 3697"/>
            </a:avLst>
          </a:prstGeom>
          <a:solidFill>
            <a:srgbClr val="282D5E"/>
          </a:solidFill>
          <a:ln/>
        </p:spPr>
      </p:sp>
      <p:sp>
        <p:nvSpPr>
          <p:cNvPr id="15" name="Shape 10"/>
          <p:cNvSpPr/>
          <p:nvPr/>
        </p:nvSpPr>
        <p:spPr>
          <a:xfrm>
            <a:off x="848916" y="4213860"/>
            <a:ext cx="565904" cy="565904"/>
          </a:xfrm>
          <a:prstGeom prst="roundRect">
            <a:avLst>
              <a:gd name="adj" fmla="val 16156602"/>
            </a:avLst>
          </a:prstGeom>
          <a:solidFill>
            <a:srgbClr val="EEAEF6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4530" y="4369356"/>
            <a:ext cx="254675" cy="2546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48916" y="4968359"/>
            <a:ext cx="235839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Smart Discounting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848916" y="5376267"/>
            <a:ext cx="7446169" cy="603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High-value customers use discounts strategically while maintaining above-average purchase amounts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943213" y="6593086"/>
            <a:ext cx="7540466" cy="905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data reveals clear opportunities: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Strategic subscription incentives, optimized discount policies, and demographic-targeted marketing can drive significant revenue growth while improving customer lifetime value.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660321" y="6380917"/>
            <a:ext cx="22860" cy="1330166"/>
          </a:xfrm>
          <a:prstGeom prst="rect">
            <a:avLst/>
          </a:prstGeom>
          <a:solidFill>
            <a:srgbClr val="EEAEF6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84377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Transforming Data into Action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45625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analytical engagement demonstrates the transformative potential of disciplined data engineering, rigorous statistical analysis, and evidence-based storytelling.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438406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By converting transactional complexity into strategic insight, organizations can move beyond intuition-driven decision making toward a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EEAEF6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data-informed operational model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4895645"/>
            <a:ext cx="7604284" cy="35957"/>
          </a:xfrm>
          <a:prstGeom prst="rect">
            <a:avLst/>
          </a:prstGeom>
          <a:solidFill>
            <a:srgbClr val="E5DCE6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5186720"/>
            <a:ext cx="7604284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Methodology: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Python Data Engineering | PostgreSQL Analysis | Power BI Visualization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3790" y="5971342"/>
            <a:ext cx="760428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Sample: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3,900 Transactions | 18 Features | Multi-Category Coverage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3790" y="6465689"/>
            <a:ext cx="760428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 Prepared: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January 2026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096" y="2196703"/>
            <a:ext cx="4885015" cy="48850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2026-01-04T11:44:37Z</dcterms:created>
  <dcterms:modified xsi:type="dcterms:W3CDTF">2026-01-04T11:44:37Z</dcterms:modified>
</cp:coreProperties>
</file>